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saveSubsetFonts="1">
  <p:sldMasterIdLst>
    <p:sldMasterId id="2147483648" r:id="rId1"/>
  </p:sldMasterIdLst>
  <p:notesMasterIdLst>
    <p:notesMasterId r:id="rId2"/>
  </p:notesMasterIdLst>
  <p:sldIdLst>
    <p:sldId id="256" r:id="rId3"/>
    <p:sldId id="257" r:id="rId4"/>
  </p:sldIdLst>
  <p:sldSz type="screen16x9" cy="6858000" cx="12192000"/>
  <p:notesSz cx="6858000" cy="9144000"/>
  <p:defaultTextStyle>
    <a:defPPr>
      <a:defRPr lang="en-US"/>
    </a:defPPr>
    <a:lvl1pPr algn="l" defTabSz="4572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tableStyles" Target="tableStyles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9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60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61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662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663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6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05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04860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0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0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19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2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2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2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4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b="1" cap="all" sz="4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35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indent="0" mar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3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3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3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40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41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42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43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44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5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46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47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48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49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50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51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52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10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11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12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582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8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54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55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5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5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5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3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24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625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2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2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2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30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3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3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3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14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1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1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1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457200" eaLnBrk="1" hangingPunct="1" indent="-342900" latinLnBrk="0" marL="342900" rtl="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indent="-285750" latinLnBrk="0" marL="742950" rtl="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indent="-228600" latinLnBrk="0" marL="1143000" rtl="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indent="-228600" latinLnBrk="0" marL="1600200" rtl="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indent="-228600" latinLnBrk="0" marL="2057400" rtl="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indent="-228600" latinLnBrk="0" marL="25146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indent="-228600" latinLnBrk="0" marL="29718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indent="-228600" latinLnBrk="0" marL="34290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indent="-228600" latinLnBrk="0" marL="38862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4572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slideLayout" Target="../slideLayouts/slideLayout7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" name=""/>
        <p:cNvGrpSpPr/>
        <p:nvPr/>
      </p:nvGrpSpPr>
      <p:grpSpPr>
        <a:xfrm/>
      </p:grpSpPr>
      <p:pic>
        <p:nvPicPr>
          <p:cNvPr id="2097152" name="Picture 1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  <p:pic>
        <p:nvPicPr>
          <p:cNvPr id="2097153" name="Picture 2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533400" y="1319361"/>
            <a:ext cx="5395912" cy="5057477"/>
          </a:xfrm>
          <a:prstGeom prst="rect"/>
        </p:spPr>
      </p:pic>
      <p:pic>
        <p:nvPicPr>
          <p:cNvPr id="2097154" name="Picture 3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6262687" y="1319361"/>
            <a:ext cx="5395912" cy="5057477"/>
          </a:xfrm>
          <a:prstGeom prst="rect"/>
        </p:spPr>
      </p:pic>
      <p:pic>
        <p:nvPicPr>
          <p:cNvPr id="2097155" name="Picture 4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>
            <a:off x="752475" y="2951708"/>
            <a:ext cx="4957762" cy="2476500"/>
          </a:xfrm>
          <a:prstGeom prst="rect"/>
        </p:spPr>
      </p:pic>
      <p:pic>
        <p:nvPicPr>
          <p:cNvPr id="2097156" name="Picture 5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5"/>
          <a:stretch>
            <a:fillRect/>
          </a:stretch>
        </p:blipFill>
        <p:spPr>
          <a:xfrm>
            <a:off x="752475" y="5542508"/>
            <a:ext cx="4957762" cy="615255"/>
          </a:xfrm>
          <a:prstGeom prst="rect"/>
        </p:spPr>
      </p:pic>
      <p:pic>
        <p:nvPicPr>
          <p:cNvPr id="2097157" name="Picture 6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6"/>
          <a:stretch>
            <a:fillRect/>
          </a:stretch>
        </p:blipFill>
        <p:spPr>
          <a:xfrm>
            <a:off x="752475" y="1538436"/>
            <a:ext cx="2390775" cy="316110"/>
          </a:xfrm>
          <a:prstGeom prst="rect"/>
        </p:spPr>
      </p:pic>
      <p:sp>
        <p:nvSpPr>
          <p:cNvPr id="1048584" name="TextBox 7"/>
          <p:cNvSpPr txBox="1"/>
          <p:nvPr/>
        </p:nvSpPr>
        <p:spPr>
          <a:xfrm>
            <a:off x="752475" y="1949797"/>
            <a:ext cx="5205650" cy="2286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/>
            <a:r>
              <a:rPr b="1" sz="1575" i="0" u="none">
                <a:solidFill>
                  <a:srgbClr val="38BDF8"/>
                </a:solidFill>
                <a:latin typeface="Poppins"/>
              </a:rPr>
              <a:t>Noticias Gaming: "Palworld pierde 84% de usuarios"</a:t>
            </a:r>
          </a:p>
        </p:txBody>
      </p:sp>
      <p:sp>
        <p:nvSpPr>
          <p:cNvPr id="1048585" name="TextBox 8"/>
          <p:cNvSpPr txBox="1"/>
          <p:nvPr/>
        </p:nvSpPr>
        <p:spPr>
          <a:xfrm>
            <a:off x="752475" y="2635597"/>
            <a:ext cx="4957762" cy="22086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739"/>
              </a:lnSpc>
            </a:pPr>
            <a:r>
              <a:rPr b="1" sz="1200" i="0" u="none">
                <a:solidFill>
                  <a:srgbClr val="C7D5E0"/>
                </a:solidFill>
                <a:latin typeface="Lato"/>
              </a:rPr>
              <a:t>Fuente:</a:t>
            </a:r>
            <a:r>
              <a:rPr b="0" sz="1200" i="0" u="none">
                <a:solidFill>
                  <a:srgbClr val="C7D5E0"/>
                </a:solidFill>
                <a:latin typeface="Lato"/>
              </a:rPr>
              <a:t> Titulares en Prensa Tecnológica / SteamDB (2024-2026).</a:t>
            </a:r>
          </a:p>
        </p:txBody>
      </p:sp>
      <p:pic>
        <p:nvPicPr>
          <p:cNvPr id="2097158" name="Picture 9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7"/>
          <a:stretch>
            <a:fillRect/>
          </a:stretch>
        </p:blipFill>
        <p:spPr>
          <a:xfrm>
            <a:off x="6481762" y="1538436"/>
            <a:ext cx="2162175" cy="316110"/>
          </a:xfrm>
          <a:prstGeom prst="rect"/>
        </p:spPr>
      </p:pic>
      <p:sp>
        <p:nvSpPr>
          <p:cNvPr id="1048586" name="TextBox 10"/>
          <p:cNvSpPr txBox="1"/>
          <p:nvPr/>
        </p:nvSpPr>
        <p:spPr>
          <a:xfrm>
            <a:off x="6481762" y="1949797"/>
            <a:ext cx="5205650" cy="2286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/>
            <a:r>
              <a:rPr b="1" sz="1575" i="0" u="none">
                <a:solidFill>
                  <a:srgbClr val="38BDF8"/>
                </a:solidFill>
                <a:latin typeface="Poppins"/>
              </a:rPr>
              <a:t>Sesgo de Métrica y Falta de Contexto</a:t>
            </a:r>
          </a:p>
        </p:txBody>
      </p:sp>
      <p:pic>
        <p:nvPicPr>
          <p:cNvPr id="2097159" name="Picture 11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8"/>
          <a:stretch>
            <a:fillRect/>
          </a:stretch>
        </p:blipFill>
        <p:spPr>
          <a:xfrm>
            <a:off x="762000" y="2961233"/>
            <a:ext cx="4938712" cy="2457450"/>
          </a:xfrm>
          <a:prstGeom prst="rect"/>
        </p:spPr>
      </p:pic>
      <p:sp>
        <p:nvSpPr>
          <p:cNvPr id="1048587" name="TextBox 12"/>
          <p:cNvSpPr txBox="1"/>
          <p:nvPr/>
        </p:nvSpPr>
        <p:spPr>
          <a:xfrm>
            <a:off x="933450" y="5656808"/>
            <a:ext cx="4633912" cy="386655"/>
          </a:xfrm>
          <a:prstGeom prst="rect"/>
          <a:noFill/>
        </p:spPr>
        <p:txBody>
          <a:bodyPr anchor="t" bIns="0" lIns="133350" rIns="0" tIns="0" wrap="square">
            <a:spAutoFit/>
          </a:bodyPr>
          <a:p>
            <a:pPr algn="l">
              <a:lnSpc>
                <a:spcPts val="1522"/>
              </a:lnSpc>
            </a:pPr>
            <a:r>
              <a:rPr b="1" sz="1050" i="0" u="none">
                <a:solidFill>
                  <a:srgbClr val="FECDD3"/>
                </a:solidFill>
                <a:latin typeface="Lato"/>
              </a:rPr>
              <a:t>Titular Sensacionalista:</a:t>
            </a:r>
            <a:r>
              <a:rPr b="0" sz="1050" i="0" u="none">
                <a:solidFill>
                  <a:srgbClr val="FECDD3"/>
                </a:solidFill>
                <a:latin typeface="Lato"/>
              </a:rPr>
              <a:t> "El juego estrella se desploma y queda al borde del abandono en Steam".</a:t>
            </a:r>
          </a:p>
        </p:txBody>
      </p:sp>
      <p:sp>
        <p:nvSpPr>
          <p:cNvPr id="1048588" name="TextBox 13"/>
          <p:cNvSpPr txBox="1"/>
          <p:nvPr/>
        </p:nvSpPr>
        <p:spPr>
          <a:xfrm>
            <a:off x="6710362" y="2387947"/>
            <a:ext cx="4729162" cy="441721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739"/>
              </a:lnSpc>
            </a:pPr>
            <a:r>
              <a:rPr b="1" sz="1200" i="0" u="none">
                <a:solidFill>
                  <a:srgbClr val="C7D5E0"/>
                </a:solidFill>
                <a:latin typeface="Lato"/>
              </a:rPr>
              <a:t>Confusión de Variable:</a:t>
            </a:r>
            <a:r>
              <a:rPr b="0" sz="1200" i="0" u="none">
                <a:solidFill>
                  <a:srgbClr val="C7D5E0"/>
                </a:solidFill>
                <a:latin typeface="Lato"/>
              </a:rPr>
              <a:t> Usan </a:t>
            </a:r>
            <a:r>
              <a:rPr b="0" sz="1200" i="1" u="none">
                <a:solidFill>
                  <a:srgbClr val="C7D5E0"/>
                </a:solidFill>
                <a:latin typeface="Lato"/>
              </a:rPr>
              <a:t>Jugadores Simultáneos (CCU)</a:t>
            </a:r>
            <a:r>
              <a:rPr b="0" sz="1200" i="0" u="none">
                <a:solidFill>
                  <a:srgbClr val="C7D5E0"/>
                </a:solidFill>
                <a:latin typeface="Lato"/>
              </a:rPr>
              <a:t> en lugar de </a:t>
            </a:r>
            <a:r>
              <a:rPr b="0" sz="1200" i="1" u="none">
                <a:solidFill>
                  <a:srgbClr val="C7D5E0"/>
                </a:solidFill>
                <a:latin typeface="Lato"/>
              </a:rPr>
              <a:t>Usuarios Totales Activos (MAU)</a:t>
            </a:r>
            <a:r>
              <a:rPr b="0" sz="1200" i="0" u="none">
                <a:solidFill>
                  <a:srgbClr val="C7D5E0"/>
                </a:solidFill>
                <a:latin typeface="Lato"/>
              </a:rPr>
              <a:t> o ventas absolutas.</a:t>
            </a:r>
          </a:p>
        </p:txBody>
      </p:sp>
      <p:sp>
        <p:nvSpPr>
          <p:cNvPr id="1048589" name="TextBox 14"/>
          <p:cNvSpPr txBox="1"/>
          <p:nvPr/>
        </p:nvSpPr>
        <p:spPr>
          <a:xfrm>
            <a:off x="6710362" y="2924919"/>
            <a:ext cx="4729162" cy="662582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739"/>
              </a:lnSpc>
            </a:pPr>
            <a:r>
              <a:rPr b="1" sz="1200" i="0" u="none">
                <a:solidFill>
                  <a:srgbClr val="C7D5E0"/>
                </a:solidFill>
                <a:latin typeface="Lato"/>
              </a:rPr>
              <a:t>Eje Y Recortado / Sin Línea Base:</a:t>
            </a:r>
            <a:r>
              <a:rPr b="0" sz="1200" i="0" u="none">
                <a:solidFill>
                  <a:srgbClr val="C7D5E0"/>
                </a:solidFill>
                <a:latin typeface="Lato"/>
              </a:rPr>
              <a:t> Muestran la caída desde el pico histórico sin comparar con el comportamiento estándar de lanzamientos.</a:t>
            </a:r>
          </a:p>
        </p:txBody>
      </p:sp>
      <p:sp>
        <p:nvSpPr>
          <p:cNvPr id="1048590" name="TextBox 15"/>
          <p:cNvSpPr txBox="1"/>
          <p:nvPr/>
        </p:nvSpPr>
        <p:spPr>
          <a:xfrm>
            <a:off x="6710362" y="3682751"/>
            <a:ext cx="4729162" cy="662582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739"/>
              </a:lnSpc>
            </a:pPr>
            <a:r>
              <a:rPr b="1" sz="1200" i="0" u="none">
                <a:solidFill>
                  <a:srgbClr val="C7D5E0"/>
                </a:solidFill>
                <a:latin typeface="Lato"/>
              </a:rPr>
              <a:t>Error de Tipo de Juego:</a:t>
            </a:r>
            <a:r>
              <a:rPr b="0" sz="1200" i="0" u="none">
                <a:solidFill>
                  <a:srgbClr val="C7D5E0"/>
                </a:solidFill>
                <a:latin typeface="Lato"/>
              </a:rPr>
              <a:t> Tratan a un juego de </a:t>
            </a:r>
            <a:r>
              <a:rPr b="0" sz="1200" i="1" u="none">
                <a:solidFill>
                  <a:srgbClr val="C7D5E0"/>
                </a:solidFill>
                <a:latin typeface="Lato"/>
              </a:rPr>
              <a:t>compra única</a:t>
            </a:r>
            <a:r>
              <a:rPr b="0" sz="1200" i="0" u="none">
                <a:solidFill>
                  <a:srgbClr val="C7D5E0"/>
                </a:solidFill>
                <a:latin typeface="Lato"/>
              </a:rPr>
              <a:t> (con fin de contenido) como si fuera un </a:t>
            </a:r>
            <a:r>
              <a:rPr b="0" sz="1200" i="1" u="none">
                <a:solidFill>
                  <a:srgbClr val="C7D5E0"/>
                </a:solidFill>
                <a:latin typeface="Lato"/>
              </a:rPr>
              <a:t>Juego como Servicio</a:t>
            </a:r>
            <a:r>
              <a:rPr b="0" sz="1200" i="0" u="none">
                <a:solidFill>
                  <a:srgbClr val="C7D5E0"/>
                </a:solidFill>
                <a:latin typeface="Lato"/>
              </a:rPr>
              <a:t> infinito (como Fortnite).</a:t>
            </a:r>
          </a:p>
        </p:txBody>
      </p:sp>
      <p:pic>
        <p:nvPicPr>
          <p:cNvPr id="2097160" name="Picture 16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9"/>
          <a:stretch>
            <a:fillRect/>
          </a:stretch>
        </p:blipFill>
        <p:spPr>
          <a:xfrm>
            <a:off x="933450" y="5685383"/>
            <a:ext cx="133350" cy="133350"/>
          </a:xfrm>
          <a:prstGeom prst="rect"/>
        </p:spPr>
      </p:pic>
      <p:pic>
        <p:nvPicPr>
          <p:cNvPr id="2097161" name="Picture 17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10"/>
          <a:stretch>
            <a:fillRect/>
          </a:stretch>
        </p:blipFill>
        <p:spPr>
          <a:xfrm>
            <a:off x="6481762" y="2416522"/>
            <a:ext cx="114300" cy="152400"/>
          </a:xfrm>
          <a:prstGeom prst="rect"/>
        </p:spPr>
      </p:pic>
      <p:pic>
        <p:nvPicPr>
          <p:cNvPr id="2097162" name="Picture 18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10"/>
          <a:stretch>
            <a:fillRect/>
          </a:stretch>
        </p:blipFill>
        <p:spPr>
          <a:xfrm>
            <a:off x="6481762" y="2953494"/>
            <a:ext cx="114300" cy="152400"/>
          </a:xfrm>
          <a:prstGeom prst="rect"/>
        </p:spPr>
      </p:pic>
      <p:pic>
        <p:nvPicPr>
          <p:cNvPr id="2097163" name="Picture 19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10"/>
          <a:stretch>
            <a:fillRect/>
          </a:stretch>
        </p:blipFill>
        <p:spPr>
          <a:xfrm>
            <a:off x="6481762" y="3711326"/>
            <a:ext cx="114300" cy="152400"/>
          </a:xfrm>
          <a:prstGeom prst="rect"/>
        </p:spPr>
      </p:pic>
      <p:sp>
        <p:nvSpPr>
          <p:cNvPr id="1048591" name="TextBox 20"/>
          <p:cNvSpPr txBox="1"/>
          <p:nvPr/>
        </p:nvSpPr>
        <p:spPr>
          <a:xfrm>
            <a:off x="533400" y="438150"/>
            <a:ext cx="11658600" cy="3683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/>
            <a:r>
              <a:rPr b="0" sz="2550" i="0" u="none">
                <a:solidFill>
                  <a:srgbClr val="66C0F4"/>
                </a:solidFill>
                <a:latin typeface="Poppins SemiBold"/>
              </a:rPr>
              <a:t>1. Caso Real y Diagnóstico del Error</a:t>
            </a:r>
          </a:p>
        </p:txBody>
      </p:sp>
      <p:sp>
        <p:nvSpPr>
          <p:cNvPr id="1048592" name="Rectangle 21"/>
          <p:cNvSpPr/>
          <p:nvPr/>
        </p:nvSpPr>
        <p:spPr>
          <a:xfrm>
            <a:off x="533400" y="1019175"/>
            <a:ext cx="11125200" cy="19050"/>
          </a:xfrm>
          <a:prstGeom prst="rect"/>
          <a:solidFill>
            <a:srgbClr val="2A4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" name=""/>
        <p:cNvGrpSpPr/>
        <p:nvPr/>
      </p:nvGrpSpPr>
      <p:grpSpPr>
        <a:xfrm/>
      </p:grpSpPr>
      <p:pic>
        <p:nvPicPr>
          <p:cNvPr id="2097164" name="Picture 1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  <p:pic>
        <p:nvPicPr>
          <p:cNvPr id="2097165" name="Picture 2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533400" y="1617464"/>
            <a:ext cx="11125200" cy="4461271"/>
          </a:xfrm>
          <a:prstGeom prst="rect"/>
        </p:spPr>
      </p:pic>
      <p:pic>
        <p:nvPicPr>
          <p:cNvPr id="2097166" name="Picture 3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533400" y="1617464"/>
            <a:ext cx="5395912" cy="2313979"/>
          </a:xfrm>
          <a:prstGeom prst="rect"/>
        </p:spPr>
      </p:pic>
      <p:pic>
        <p:nvPicPr>
          <p:cNvPr id="2097167" name="Picture 4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>
            <a:off x="533400" y="4121943"/>
            <a:ext cx="5395912" cy="1956792"/>
          </a:xfrm>
          <a:prstGeom prst="rect"/>
        </p:spPr>
      </p:pic>
      <p:pic>
        <p:nvPicPr>
          <p:cNvPr id="2097168" name="Picture 5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5"/>
          <a:stretch>
            <a:fillRect/>
          </a:stretch>
        </p:blipFill>
        <p:spPr>
          <a:xfrm>
            <a:off x="752475" y="1836539"/>
            <a:ext cx="2771775" cy="316110"/>
          </a:xfrm>
          <a:prstGeom prst="rect"/>
        </p:spPr>
      </p:pic>
      <p:sp>
        <p:nvSpPr>
          <p:cNvPr id="1048593" name="TextBox 6"/>
          <p:cNvSpPr txBox="1"/>
          <p:nvPr/>
        </p:nvSpPr>
        <p:spPr>
          <a:xfrm>
            <a:off x="752475" y="2247900"/>
            <a:ext cx="5205650" cy="2286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/>
            <a:r>
              <a:rPr b="1" sz="1575" i="0" u="none">
                <a:solidFill>
                  <a:srgbClr val="38BDF8"/>
                </a:solidFill>
                <a:latin typeface="Poppins"/>
              </a:rPr>
              <a:t>Variables Reales del Negocio</a:t>
            </a:r>
          </a:p>
        </p:txBody>
      </p:sp>
      <p:pic>
        <p:nvPicPr>
          <p:cNvPr id="2097169" name="Picture 7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6"/>
          <a:stretch>
            <a:fillRect/>
          </a:stretch>
        </p:blipFill>
        <p:spPr>
          <a:xfrm>
            <a:off x="752475" y="4341018"/>
            <a:ext cx="1971675" cy="316110"/>
          </a:xfrm>
          <a:prstGeom prst="rect"/>
        </p:spPr>
      </p:pic>
      <p:sp>
        <p:nvSpPr>
          <p:cNvPr id="1048594" name="TextBox 8"/>
          <p:cNvSpPr txBox="1"/>
          <p:nvPr/>
        </p:nvSpPr>
        <p:spPr>
          <a:xfrm>
            <a:off x="752475" y="4752379"/>
            <a:ext cx="5205650" cy="2286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/>
            <a:r>
              <a:rPr b="1" sz="1575" i="0" u="none">
                <a:solidFill>
                  <a:srgbClr val="34D399"/>
                </a:solidFill>
                <a:latin typeface="Poppins"/>
              </a:rPr>
              <a:t>Pensamiento Crítico en Data Science</a:t>
            </a:r>
          </a:p>
        </p:txBody>
      </p:sp>
      <p:sp>
        <p:nvSpPr>
          <p:cNvPr id="1048595" name="TextBox 9"/>
          <p:cNvSpPr txBox="1"/>
          <p:nvPr/>
        </p:nvSpPr>
        <p:spPr>
          <a:xfrm>
            <a:off x="752475" y="5142904"/>
            <a:ext cx="4957762" cy="621506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C7D5E0"/>
                </a:solidFill>
                <a:latin typeface="Lato"/>
              </a:rPr>
              <a:t>Una gráfica sin contexto convierte un </a:t>
            </a:r>
            <a:r>
              <a:rPr b="1" sz="1125" i="0" u="none">
                <a:solidFill>
                  <a:srgbClr val="C7D5E0"/>
                </a:solidFill>
                <a:latin typeface="Lato"/>
              </a:rPr>
              <a:t>éxito comercial masivo</a:t>
            </a:r>
            <a:r>
              <a:rPr b="0" sz="1125" i="0" u="none">
                <a:solidFill>
                  <a:srgbClr val="C7D5E0"/>
                </a:solidFill>
                <a:latin typeface="Lato"/>
              </a:rPr>
              <a:t> en una narrativa falsa de fracaso. Como científicos de datos, debemos exigir escalas adecuadas, métricas precisas y contexto de la industria.</a:t>
            </a:r>
          </a:p>
        </p:txBody>
      </p:sp>
      <p:sp>
        <p:nvSpPr>
          <p:cNvPr id="1048596" name="TextBox 10"/>
          <p:cNvSpPr txBox="1"/>
          <p:nvPr/>
        </p:nvSpPr>
        <p:spPr>
          <a:xfrm>
            <a:off x="981075" y="2638425"/>
            <a:ext cx="4729162" cy="441721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739"/>
              </a:lnSpc>
            </a:pPr>
            <a:r>
              <a:rPr b="1" sz="1200" i="0" u="none">
                <a:solidFill>
                  <a:srgbClr val="C7D5E0"/>
                </a:solidFill>
                <a:latin typeface="Lato"/>
              </a:rPr>
              <a:t>Éxito Comercial:</a:t>
            </a:r>
            <a:r>
              <a:rPr b="0" sz="1200" i="0" u="none">
                <a:solidFill>
                  <a:srgbClr val="C7D5E0"/>
                </a:solidFill>
                <a:latin typeface="Lato"/>
              </a:rPr>
              <a:t> Vendió +25 Millones de copias (100% de ingresos generados).</a:t>
            </a:r>
          </a:p>
        </p:txBody>
      </p:sp>
      <p:sp>
        <p:nvSpPr>
          <p:cNvPr id="1048597" name="TextBox 11"/>
          <p:cNvSpPr txBox="1"/>
          <p:nvPr/>
        </p:nvSpPr>
        <p:spPr>
          <a:xfrm>
            <a:off x="981075" y="3175396"/>
            <a:ext cx="4729162" cy="441721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739"/>
              </a:lnSpc>
            </a:pPr>
            <a:r>
              <a:rPr b="1" sz="1200" i="0" u="none">
                <a:solidFill>
                  <a:srgbClr val="C7D5E0"/>
                </a:solidFill>
                <a:latin typeface="Lato"/>
              </a:rPr>
              <a:t>Retención Top:</a:t>
            </a:r>
            <a:r>
              <a:rPr b="0" sz="1200" i="0" u="none">
                <a:solidFill>
                  <a:srgbClr val="C7D5E0"/>
                </a:solidFill>
                <a:latin typeface="Lato"/>
              </a:rPr>
              <a:t> 350K jugadores simultáneos lo mantienen de forma permanente en el </a:t>
            </a:r>
            <a:r>
              <a:rPr b="1" sz="1200" i="0" u="none">
                <a:solidFill>
                  <a:srgbClr val="C7D5E0"/>
                </a:solidFill>
                <a:latin typeface="Lato"/>
              </a:rPr>
              <a:t>TOP 5 de Steam</a:t>
            </a:r>
            <a:r>
              <a:rPr b="0" sz="1200" i="0" u="none">
                <a:solidFill>
                  <a:srgbClr val="C7D5E0"/>
                </a:solidFill>
                <a:latin typeface="Lato"/>
              </a:rPr>
              <a:t>.</a:t>
            </a:r>
          </a:p>
        </p:txBody>
      </p:sp>
      <p:pic>
        <p:nvPicPr>
          <p:cNvPr id="2097170" name="Picture 12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7"/>
          <a:stretch>
            <a:fillRect/>
          </a:stretch>
        </p:blipFill>
        <p:spPr>
          <a:xfrm>
            <a:off x="752475" y="2667000"/>
            <a:ext cx="133350" cy="152400"/>
          </a:xfrm>
          <a:prstGeom prst="rect"/>
        </p:spPr>
      </p:pic>
      <p:pic>
        <p:nvPicPr>
          <p:cNvPr id="2097171" name="Picture 13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7"/>
          <a:stretch>
            <a:fillRect/>
          </a:stretch>
        </p:blipFill>
        <p:spPr>
          <a:xfrm>
            <a:off x="752475" y="3203971"/>
            <a:ext cx="133350" cy="152400"/>
          </a:xfrm>
          <a:prstGeom prst="rect"/>
        </p:spPr>
      </p:pic>
      <p:sp>
        <p:nvSpPr>
          <p:cNvPr id="1048598" name="TextBox 14"/>
          <p:cNvSpPr txBox="1"/>
          <p:nvPr/>
        </p:nvSpPr>
        <p:spPr>
          <a:xfrm>
            <a:off x="533400" y="438150"/>
            <a:ext cx="11658600" cy="3683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/>
            <a:r>
              <a:rPr b="0" sz="2550" i="0" u="none">
                <a:solidFill>
                  <a:srgbClr val="66C0F4"/>
                </a:solidFill>
                <a:latin typeface="Poppins SemiBold"/>
              </a:rPr>
              <a:t>2. Evidencia, Corrección y Conclusión</a:t>
            </a:r>
          </a:p>
        </p:txBody>
      </p:sp>
      <p:sp>
        <p:nvSpPr>
          <p:cNvPr id="1048599" name="Rectangle 15"/>
          <p:cNvSpPr/>
          <p:nvPr/>
        </p:nvSpPr>
        <p:spPr>
          <a:xfrm>
            <a:off x="533400" y="1019175"/>
            <a:ext cx="11125200" cy="19050"/>
          </a:xfrm>
          <a:prstGeom prst="rect"/>
          <a:solidFill>
            <a:srgbClr val="2A4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Macintosh PowerPoint</Application>
  <ScaleCrop>0</ScaleCrop>
  <LinksUpToDate>0</LinksUpToDate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Z2465N</dc:creator>
  <cp:lastModifiedBy>Steve Canny</cp:lastModifiedBy>
  <dcterms:created xsi:type="dcterms:W3CDTF">2013-01-27T19:14:16Z</dcterms:created>
  <dcterms:modified xsi:type="dcterms:W3CDTF">2026-08-25T20:18:08Z</dcterms:modified>
</cp:coreProperties>
</file>